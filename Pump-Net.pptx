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02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61348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703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78310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9902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61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40595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11775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627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591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648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803C8E8-D335-46A9-A3B5-D84E27E83167}" type="datetimeFigureOut">
              <a:rPr lang="en-DE" smtClean="0"/>
              <a:t>11/03/2026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4FFDC02-62FB-4D02-95E0-8485BD63F977}" type="slidenum">
              <a:rPr lang="en-DE" smtClean="0"/>
              <a:t>‹#›</a:t>
            </a:fld>
            <a:endParaRPr lang="en-DE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1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4165-C253-49CC-2891-91B2C9E57D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4400"/>
              <a:t>Pump-Net: Efficient Anomaly Detection for Industrial Edge Devices using desktop simulation</a:t>
            </a:r>
            <a:endParaRPr lang="en-DE" sz="4400" dirty="0"/>
          </a:p>
        </p:txBody>
      </p:sp>
    </p:spTree>
    <p:extLst>
      <p:ext uri="{BB962C8B-B14F-4D97-AF65-F5344CB8AC3E}">
        <p14:creationId xmlns:p14="http://schemas.microsoft.com/office/powerpoint/2010/main" val="681898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E7411-BB34-9281-249E-02F1903E7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Data &amp; The Problem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E45B7-9992-F8B5-B16F-CC936640E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400" b="1" dirty="0"/>
              <a:t>Dataset:</a:t>
            </a:r>
            <a:r>
              <a:rPr lang="en-GB" sz="1400" dirty="0"/>
              <a:t> MIMII (Pump sound recordings).</a:t>
            </a:r>
          </a:p>
          <a:p>
            <a:r>
              <a:rPr lang="en-GB" sz="1400" dirty="0"/>
              <a:t>Problem: Identify anomalies, which are rare/expensive in production env</a:t>
            </a:r>
          </a:p>
          <a:p>
            <a:r>
              <a:rPr lang="en-GB" sz="1400" dirty="0"/>
              <a:t>Past work</a:t>
            </a:r>
          </a:p>
          <a:p>
            <a:pPr lvl="1"/>
            <a:r>
              <a:rPr lang="en-GB" sz="1400" dirty="0"/>
              <a:t>Feature extraction + single AE model – Carry forward	</a:t>
            </a:r>
          </a:p>
          <a:p>
            <a:pPr lvl="2"/>
            <a:r>
              <a:rPr lang="en-GB" sz="1400" dirty="0"/>
              <a:t>Important highlight – Manual feature engineering to select top5 significant inputs </a:t>
            </a:r>
          </a:p>
          <a:p>
            <a:pPr lvl="2"/>
            <a:endParaRPr lang="en-GB" sz="1400" dirty="0"/>
          </a:p>
          <a:p>
            <a:r>
              <a:rPr lang="en-GB" sz="1400" dirty="0"/>
              <a:t>Work currently done</a:t>
            </a:r>
          </a:p>
          <a:p>
            <a:pPr lvl="1"/>
            <a:r>
              <a:rPr lang="en-GB" sz="1400" dirty="0"/>
              <a:t>Shallow vs Deep architectures</a:t>
            </a:r>
          </a:p>
          <a:p>
            <a:pPr lvl="1"/>
            <a:r>
              <a:rPr lang="en-GB" sz="1400" dirty="0"/>
              <a:t>Pruning for stability</a:t>
            </a:r>
          </a:p>
          <a:p>
            <a:pPr lvl="1"/>
            <a:r>
              <a:rPr lang="en-GB" sz="1400" dirty="0"/>
              <a:t>Quantization </a:t>
            </a:r>
          </a:p>
          <a:p>
            <a:r>
              <a:rPr lang="en-GB" sz="1400" dirty="0"/>
              <a:t>Desired work</a:t>
            </a:r>
          </a:p>
          <a:p>
            <a:pPr lvl="1"/>
            <a:r>
              <a:rPr lang="en-GB" sz="1400" dirty="0"/>
              <a:t>Pareto optimisation</a:t>
            </a:r>
          </a:p>
          <a:p>
            <a:pPr lvl="1"/>
            <a:r>
              <a:rPr lang="en-GB" sz="1400" dirty="0"/>
              <a:t>NAS</a:t>
            </a:r>
          </a:p>
        </p:txBody>
      </p:sp>
    </p:spTree>
    <p:extLst>
      <p:ext uri="{BB962C8B-B14F-4D97-AF65-F5344CB8AC3E}">
        <p14:creationId xmlns:p14="http://schemas.microsoft.com/office/powerpoint/2010/main" val="962421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1302F-0B96-4FC3-7F39-C730BE27E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5706"/>
            <a:ext cx="10515600" cy="1325563"/>
          </a:xfrm>
        </p:spPr>
        <p:txBody>
          <a:bodyPr/>
          <a:lstStyle/>
          <a:p>
            <a:r>
              <a:rPr lang="en-IN" dirty="0"/>
              <a:t>Past work – Results	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039BD-462C-020F-C5CD-E5FE4A5B4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548" y="2082292"/>
            <a:ext cx="6431280" cy="1985169"/>
          </a:xfrm>
        </p:spPr>
        <p:txBody>
          <a:bodyPr>
            <a:normAutofit lnSpcReduction="10000"/>
          </a:bodyPr>
          <a:lstStyle/>
          <a:p>
            <a:r>
              <a:rPr lang="en-IN" sz="1400" dirty="0"/>
              <a:t>Base model</a:t>
            </a:r>
          </a:p>
          <a:p>
            <a:pPr lvl="1"/>
            <a:r>
              <a:rPr lang="en-IN" sz="1400" dirty="0"/>
              <a:t>Symmetric Deep Autoencoder</a:t>
            </a:r>
          </a:p>
          <a:p>
            <a:pPr lvl="2"/>
            <a:r>
              <a:rPr lang="en-IN" sz="1400" dirty="0"/>
              <a:t>128 – 64 – 32 | Dense, Batch Normalization, Dropout </a:t>
            </a:r>
          </a:p>
          <a:p>
            <a:r>
              <a:rPr lang="en-IN" sz="1400" dirty="0"/>
              <a:t>Use of reconstruction error to identify top 5 features with max impact</a:t>
            </a:r>
          </a:p>
          <a:p>
            <a:r>
              <a:rPr lang="en-IN" sz="1400" dirty="0"/>
              <a:t>Take away</a:t>
            </a:r>
          </a:p>
          <a:p>
            <a:pPr lvl="1"/>
            <a:r>
              <a:rPr lang="en-IN" sz="1400" dirty="0"/>
              <a:t>Model performance is almost the same</a:t>
            </a:r>
          </a:p>
          <a:p>
            <a:pPr lvl="1"/>
            <a:r>
              <a:rPr lang="en-IN" sz="1400" dirty="0"/>
              <a:t>Slight reduction in model size</a:t>
            </a:r>
          </a:p>
          <a:p>
            <a:endParaRPr lang="en-IN" sz="1400" dirty="0"/>
          </a:p>
          <a:p>
            <a:pPr marL="0" indent="0">
              <a:buNone/>
            </a:pPr>
            <a:endParaRPr lang="en-IN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CCED1B-451B-782B-1AD5-2FD71B71B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11" y="4375943"/>
            <a:ext cx="10891759" cy="1712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1364CA-5649-C277-8D23-7104B1F3FDA1}"/>
              </a:ext>
            </a:extLst>
          </p:cNvPr>
          <p:cNvSpPr txBox="1"/>
          <p:nvPr/>
        </p:nvSpPr>
        <p:spPr>
          <a:xfrm>
            <a:off x="7780020" y="2593830"/>
            <a:ext cx="41330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AUROC – Area under  Receiver Operating Characteristic – Measure of classification </a:t>
            </a:r>
          </a:p>
          <a:p>
            <a:endParaRPr lang="en-IN" sz="1400" dirty="0"/>
          </a:p>
          <a:p>
            <a:r>
              <a:rPr lang="en-IN" sz="1400" dirty="0"/>
              <a:t>AUPRC – Area Under the Precision-Recall Curve – precision 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580217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4D3C1-D984-4525-51F5-92548A38B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 done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E95A5-D178-6085-9AC7-F2F6F9CED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1003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400" dirty="0"/>
              <a:t>Comparison study involving </a:t>
            </a:r>
          </a:p>
          <a:p>
            <a:pPr marL="0" indent="0">
              <a:buNone/>
            </a:pPr>
            <a:r>
              <a:rPr lang="en-IN" sz="1400" dirty="0"/>
              <a:t>undercomplete model with 4 NN bottleneck [32 – 8 – 4] – Dense – Batch Norm – Drop out and Shallow model [16 - 4] - Dense</a:t>
            </a:r>
            <a:endParaRPr lang="en-DE" sz="1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BEE68-BA2D-D6BA-7993-F0F3467EA3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81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400" dirty="0"/>
              <a:t>Quantization – PTQ</a:t>
            </a:r>
          </a:p>
          <a:p>
            <a:pPr marL="0" indent="0">
              <a:buNone/>
            </a:pPr>
            <a:r>
              <a:rPr lang="en-IN" sz="1400" dirty="0"/>
              <a:t>Used input data as representational data for calibration </a:t>
            </a:r>
            <a:endParaRPr lang="en-DE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A19411-6EB3-77B9-DE07-EB2266DE6E18}"/>
              </a:ext>
            </a:extLst>
          </p:cNvPr>
          <p:cNvSpPr txBox="1"/>
          <p:nvPr/>
        </p:nvSpPr>
        <p:spPr>
          <a:xfrm>
            <a:off x="914400" y="3124200"/>
            <a:ext cx="10439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Future plan</a:t>
            </a:r>
            <a:endParaRPr lang="en-DE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A71EA3-E43E-4B0E-2319-9B13F63FC059}"/>
              </a:ext>
            </a:extLst>
          </p:cNvPr>
          <p:cNvSpPr txBox="1"/>
          <p:nvPr/>
        </p:nvSpPr>
        <p:spPr>
          <a:xfrm>
            <a:off x="914400" y="3971925"/>
            <a:ext cx="5219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NAS</a:t>
            </a:r>
          </a:p>
          <a:p>
            <a:r>
              <a:rPr lang="en-IN" dirty="0"/>
              <a:t>Pareto Optimisation 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22105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DC4CD-FE85-8EC4-77CC-DC0DBD31F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Observation </a:t>
            </a:r>
            <a:endParaRPr lang="en-D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9D36567-D176-9F80-A57D-3D58B69EBC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1759952"/>
              </p:ext>
            </p:extLst>
          </p:nvPr>
        </p:nvGraphicFramePr>
        <p:xfrm>
          <a:off x="766762" y="1717653"/>
          <a:ext cx="10515600" cy="2440688"/>
        </p:xfrm>
        <a:graphic>
          <a:graphicData uri="http://schemas.openxmlformats.org/drawingml/2006/table">
            <a:tbl>
              <a:tblPr/>
              <a:tblGrid>
                <a:gridCol w="606611">
                  <a:extLst>
                    <a:ext uri="{9D8B030D-6E8A-4147-A177-3AD203B41FA5}">
                      <a16:colId xmlns:a16="http://schemas.microsoft.com/office/drawing/2014/main" val="1039703004"/>
                    </a:ext>
                  </a:extLst>
                </a:gridCol>
                <a:gridCol w="2336614">
                  <a:extLst>
                    <a:ext uri="{9D8B030D-6E8A-4147-A177-3AD203B41FA5}">
                      <a16:colId xmlns:a16="http://schemas.microsoft.com/office/drawing/2014/main" val="235225127"/>
                    </a:ext>
                  </a:extLst>
                </a:gridCol>
                <a:gridCol w="817763">
                  <a:extLst>
                    <a:ext uri="{9D8B030D-6E8A-4147-A177-3AD203B41FA5}">
                      <a16:colId xmlns:a16="http://schemas.microsoft.com/office/drawing/2014/main" val="1493061471"/>
                    </a:ext>
                  </a:extLst>
                </a:gridCol>
                <a:gridCol w="606611">
                  <a:extLst>
                    <a:ext uri="{9D8B030D-6E8A-4147-A177-3AD203B41FA5}">
                      <a16:colId xmlns:a16="http://schemas.microsoft.com/office/drawing/2014/main" val="2332003645"/>
                    </a:ext>
                  </a:extLst>
                </a:gridCol>
                <a:gridCol w="606611">
                  <a:extLst>
                    <a:ext uri="{9D8B030D-6E8A-4147-A177-3AD203B41FA5}">
                      <a16:colId xmlns:a16="http://schemas.microsoft.com/office/drawing/2014/main" val="635669808"/>
                    </a:ext>
                  </a:extLst>
                </a:gridCol>
                <a:gridCol w="606611">
                  <a:extLst>
                    <a:ext uri="{9D8B030D-6E8A-4147-A177-3AD203B41FA5}">
                      <a16:colId xmlns:a16="http://schemas.microsoft.com/office/drawing/2014/main" val="1263459542"/>
                    </a:ext>
                  </a:extLst>
                </a:gridCol>
                <a:gridCol w="1119197">
                  <a:extLst>
                    <a:ext uri="{9D8B030D-6E8A-4147-A177-3AD203B41FA5}">
                      <a16:colId xmlns:a16="http://schemas.microsoft.com/office/drawing/2014/main" val="1587260971"/>
                    </a:ext>
                  </a:extLst>
                </a:gridCol>
                <a:gridCol w="1006974">
                  <a:extLst>
                    <a:ext uri="{9D8B030D-6E8A-4147-A177-3AD203B41FA5}">
                      <a16:colId xmlns:a16="http://schemas.microsoft.com/office/drawing/2014/main" val="2914125683"/>
                    </a:ext>
                  </a:extLst>
                </a:gridCol>
                <a:gridCol w="1043371">
                  <a:extLst>
                    <a:ext uri="{9D8B030D-6E8A-4147-A177-3AD203B41FA5}">
                      <a16:colId xmlns:a16="http://schemas.microsoft.com/office/drawing/2014/main" val="1240653329"/>
                    </a:ext>
                  </a:extLst>
                </a:gridCol>
                <a:gridCol w="864420">
                  <a:extLst>
                    <a:ext uri="{9D8B030D-6E8A-4147-A177-3AD203B41FA5}">
                      <a16:colId xmlns:a16="http://schemas.microsoft.com/office/drawing/2014/main" val="2429210622"/>
                    </a:ext>
                  </a:extLst>
                </a:gridCol>
                <a:gridCol w="900817">
                  <a:extLst>
                    <a:ext uri="{9D8B030D-6E8A-4147-A177-3AD203B41FA5}">
                      <a16:colId xmlns:a16="http://schemas.microsoft.com/office/drawing/2014/main" val="2285909046"/>
                    </a:ext>
                  </a:extLst>
                </a:gridCol>
              </a:tblGrid>
              <a:tr h="409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 </a:t>
                      </a:r>
                    </a:p>
                  </a:txBody>
                  <a:tcPr marL="9107" marR="9107" marT="910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model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input_dim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params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file_size_mb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AUROC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AUPRC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latency_ms_per_batch_mean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latency_ms_per_batch_p95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ms_per_sample_mean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samples_per_sec_mean</a:t>
                      </a:r>
                    </a:p>
                  </a:txBody>
                  <a:tcPr marL="9107" marR="9107" marT="910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48933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large_ae_full_features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28242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0.403777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0.99172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0.99529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107.43458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130.15806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0.499696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2001.217857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6479082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large_ae_topN_features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24901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0.365577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0.97553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0.98935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104.866555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129.412325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0.487751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2050.224688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010668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small_ae_full_features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0.1107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0.98014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104.711515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112.13588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0.48703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2053.260331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845778"/>
                  </a:ext>
                </a:extLst>
              </a:tr>
              <a:tr h="20946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small_ae_topN_features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1341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0.101026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0.97271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0.98823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106.9408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117.912855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0.497399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2010.458123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776831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shallow_ae_full_features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0.062198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0.98673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0.99265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109.6969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131.10849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0.510218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1959.945997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1082721"/>
                  </a:ext>
                </a:extLst>
              </a:tr>
              <a:tr h="20946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shallow_ae_topN_features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985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0.052524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0.97205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0.98796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104.880055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142.257525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0.487814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2049.960786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3124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small_model(tflite)_full_features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NaN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0.008766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0.38274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0.70511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1.57232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2.141455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0.007313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136740.6124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8810019"/>
                  </a:ext>
                </a:extLst>
              </a:tr>
              <a:tr h="20946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small_model(tflite)_topN_features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NaN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0.007622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0.08771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0.45763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1.449385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2.0181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0.006741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148338.7779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614652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shallow_model(tflite)_full_features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NaN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0.007774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 dirty="0">
                          <a:solidFill>
                            <a:srgbClr val="202020"/>
                          </a:solidFill>
                          <a:effectLst/>
                          <a:highlight>
                            <a:srgbClr val="FFFF00"/>
                          </a:highlight>
                          <a:latin typeface="Segoe UI" panose="020B0502040204020203" pitchFamily="34" charset="0"/>
                        </a:rPr>
                        <a:t>0.92509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 dirty="0">
                          <a:solidFill>
                            <a:srgbClr val="202020"/>
                          </a:solidFill>
                          <a:effectLst/>
                          <a:highlight>
                            <a:srgbClr val="FFFF00"/>
                          </a:highlight>
                          <a:latin typeface="Segoe UI" panose="020B0502040204020203" pitchFamily="34" charset="0"/>
                        </a:rPr>
                        <a:t>0.96783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1.54627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2.12908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0.007192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139044.2807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153902"/>
                  </a:ext>
                </a:extLst>
              </a:tr>
              <a:tr h="2003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shallow_model(tflite)_topN_features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NaN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0.006622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0.08282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0.45635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1.85646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2.657065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0.008635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1100" b="0" i="0" u="none" strike="noStrike" dirty="0">
                          <a:solidFill>
                            <a:srgbClr val="202020"/>
                          </a:solidFill>
                          <a:effectLst/>
                          <a:latin typeface="Segoe UI" panose="020B0502040204020203" pitchFamily="34" charset="0"/>
                        </a:rPr>
                        <a:t>115811.8139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3329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F55C24-BCCF-F8E7-EC39-9F34E7CD4A78}"/>
              </a:ext>
            </a:extLst>
          </p:cNvPr>
          <p:cNvSpPr txBox="1"/>
          <p:nvPr/>
        </p:nvSpPr>
        <p:spPr>
          <a:xfrm>
            <a:off x="657225" y="4200525"/>
            <a:ext cx="60864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Detection Performance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Best AUROC: 0.9866 (Large AE – Full Features)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Small &amp; Shallow AEs achieve comparable performance (~0.97 AUROC)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With feature reduction </a:t>
            </a:r>
            <a:r>
              <a:rPr lang="en-GB" sz="1400" dirty="0" err="1"/>
              <a:t>TFLite</a:t>
            </a:r>
            <a:r>
              <a:rPr lang="en-GB" sz="1400" dirty="0"/>
              <a:t> models show significant accuracy degradation</a:t>
            </a:r>
          </a:p>
          <a:p>
            <a:r>
              <a:rPr lang="en-IN" sz="1400" dirty="0"/>
              <a:t>Efficiency (Desktop Simulation)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 err="1"/>
              <a:t>TFLite</a:t>
            </a:r>
            <a:r>
              <a:rPr lang="en-IN" sz="1400" dirty="0"/>
              <a:t> models – 60/70x faster, 50x smaller in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 err="1"/>
              <a:t>Pytorch</a:t>
            </a:r>
            <a:r>
              <a:rPr lang="en-IN" sz="1400" dirty="0"/>
              <a:t> </a:t>
            </a:r>
            <a:r>
              <a:rPr lang="en-IN" sz="1400" dirty="0" err="1"/>
              <a:t>Aes</a:t>
            </a:r>
            <a:r>
              <a:rPr lang="en-IN" sz="1400" dirty="0"/>
              <a:t> – 0.5 sec per sample</a:t>
            </a:r>
            <a:endParaRPr lang="en-GB" sz="1400" dirty="0"/>
          </a:p>
          <a:p>
            <a:endParaRPr lang="en-DE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18CF57-064B-6AE5-657E-F135EF3B73A9}"/>
              </a:ext>
            </a:extLst>
          </p:cNvPr>
          <p:cNvSpPr txBox="1"/>
          <p:nvPr/>
        </p:nvSpPr>
        <p:spPr>
          <a:xfrm>
            <a:off x="6772275" y="4371975"/>
            <a:ext cx="47720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Key Trade-Off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Higher accuracy – larger model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Smaller/faster models – reduced detection performance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i="1" dirty="0"/>
              <a:t>Shallow model with all input features achieves good AUROC and AUPRC</a:t>
            </a:r>
            <a:endParaRPr lang="en-DE" sz="1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4BB3E2-C5A9-AFA8-D12E-D3D0BEDACBB1}"/>
              </a:ext>
            </a:extLst>
          </p:cNvPr>
          <p:cNvSpPr txBox="1"/>
          <p:nvPr/>
        </p:nvSpPr>
        <p:spPr>
          <a:xfrm>
            <a:off x="200025" y="6231850"/>
            <a:ext cx="11744325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All latency and throughput results are </a:t>
            </a:r>
            <a:r>
              <a:rPr lang="en-GB" b="1" dirty="0"/>
              <a:t>desktop simulated</a:t>
            </a:r>
            <a:r>
              <a:rPr lang="en-GB" dirty="0"/>
              <a:t>, not measured on a physical microcontroller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752500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8858</TotalTime>
  <Words>517</Words>
  <Application>Microsoft Office PowerPoint</Application>
  <PresentationFormat>Widescreen</PresentationFormat>
  <Paragraphs>168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Segoe UI</vt:lpstr>
      <vt:lpstr>Tw Cen MT</vt:lpstr>
      <vt:lpstr>Tw Cen MT Condensed</vt:lpstr>
      <vt:lpstr>Wingdings 3</vt:lpstr>
      <vt:lpstr>Integral</vt:lpstr>
      <vt:lpstr>Pump-Net: Efficient Anomaly Detection for Industrial Edge Devices using desktop simulation</vt:lpstr>
      <vt:lpstr>The Data &amp; The Problem</vt:lpstr>
      <vt:lpstr>Past work – Results </vt:lpstr>
      <vt:lpstr>Work done</vt:lpstr>
      <vt:lpstr>Observation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Likesh</dc:creator>
  <cp:lastModifiedBy>Nikki Me</cp:lastModifiedBy>
  <cp:revision>3</cp:revision>
  <dcterms:created xsi:type="dcterms:W3CDTF">2026-03-05T02:47:06Z</dcterms:created>
  <dcterms:modified xsi:type="dcterms:W3CDTF">2026-03-12T21:05:40Z</dcterms:modified>
</cp:coreProperties>
</file>