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BCC6-408F-7622-3730-397129909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EB307-BB59-2009-9076-FCDDC1E67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FCB72-1CE4-333F-2A02-A7B0CEE5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C8E8-D335-46A9-A3B5-D84E27E83167}" type="datetimeFigureOut">
              <a:rPr lang="en-DE" smtClean="0"/>
              <a:t>05/03/2026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57948-4C7B-9D34-4512-E7560562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3A689-D5DF-FE5B-0AE5-172258D4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DC02-62FB-4D02-95E0-8485BD63F97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9979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EA991-55A2-88C3-D706-AD771FF1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32A4A-C343-48BA-13D2-E78DC4D68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E7E81-0CAF-B94D-025D-A7782842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C8E8-D335-46A9-A3B5-D84E27E83167}" type="datetimeFigureOut">
              <a:rPr lang="en-DE" smtClean="0"/>
              <a:t>05/03/2026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8C1A-3E37-8F7A-1246-CC67C2B7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E68C0-7C4C-5F86-FF86-7CC302EE0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DC02-62FB-4D02-95E0-8485BD63F97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4286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8FDD3-AA5A-30A2-AF3F-B6305C789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375AE-C7C2-EEEC-4E08-41B66991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4F81E-8BBF-E6FC-F449-05F889A84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C8E8-D335-46A9-A3B5-D84E27E83167}" type="datetimeFigureOut">
              <a:rPr lang="en-DE" smtClean="0"/>
              <a:t>05/03/2026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03E99-0451-4F99-CEE7-4D1858D1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8D46D-1BA2-EC0C-C8E1-8AFD0BE92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DC02-62FB-4D02-95E0-8485BD63F97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5254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D681-0CBB-DF42-38C6-19E864C7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9D27C-E8E0-6DF8-C179-E96E9F1DD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7B77A-D73B-7A77-6DBF-93C03ED88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C9AC6-6DF4-1B3A-DA91-DF71825D3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C8E8-D335-46A9-A3B5-D84E27E83167}" type="datetimeFigureOut">
              <a:rPr lang="en-DE" smtClean="0"/>
              <a:t>05/03/2026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A8771-78E6-9D53-040D-943783360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D9245-AA14-3251-C0DD-993DD018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DC02-62FB-4D02-95E0-8485BD63F97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157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43FF-1095-2C71-A52F-D5F854FDD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CCE55-986F-E0F8-DEDE-E08D119F3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FF612-05EF-99E7-435B-2D9E259C7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4594D7-EA16-9818-7FEE-4BEA86F3A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3732D3-9640-A342-2F3B-E51E0D5BF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0D464-070D-78BA-EEB5-83F37FC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C8E8-D335-46A9-A3B5-D84E27E83167}" type="datetimeFigureOut">
              <a:rPr lang="en-DE" smtClean="0"/>
              <a:t>05/03/2026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2B9465-EC04-53BB-1BE3-EDC5A9E5E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D9D4E-56F0-FE16-FB7A-63322CBB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DC02-62FB-4D02-95E0-8485BD63F97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94341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6069-6D1C-7D0C-5C08-FFBCAB6C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3F875-ED3A-CFB1-A5B0-FA1D7F3E7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C8E8-D335-46A9-A3B5-D84E27E83167}" type="datetimeFigureOut">
              <a:rPr lang="en-DE" smtClean="0"/>
              <a:t>05/03/2026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22EE9-A3F7-C7DF-5BBD-EAB77910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A4132-2C87-22D2-0076-3C8B5F031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DC02-62FB-4D02-95E0-8485BD63F97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3385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C899D-B26D-FF06-2012-F292D447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C8E8-D335-46A9-A3B5-D84E27E83167}" type="datetimeFigureOut">
              <a:rPr lang="en-DE" smtClean="0"/>
              <a:t>05/03/2026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667EC-1158-F358-558E-1A5D3D435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473C3-3021-023C-3D51-75BDFD73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DC02-62FB-4D02-95E0-8485BD63F97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1993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467C7-BC2B-763D-5C1B-625F987C8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A60F0-18A9-E18E-E767-4BFEE0FAD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E8347-E73D-27FB-1C7D-FC39380A3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0C1FD-6B04-D6C8-9A42-D2839DF0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C8E8-D335-46A9-A3B5-D84E27E83167}" type="datetimeFigureOut">
              <a:rPr lang="en-DE" smtClean="0"/>
              <a:t>05/03/2026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08DE1-6CAC-E55D-0E53-B7B88A765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6AD43-A7E1-35D5-AD0A-3C4778CF6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DC02-62FB-4D02-95E0-8485BD63F97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1876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9D3BC-E1E3-741C-0069-90BD483A4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FBA3A5-5A41-708F-17D4-8E24EE785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8E085-6864-3864-6580-949306FFB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ADC35-B357-0236-44CF-36DD6AFC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C8E8-D335-46A9-A3B5-D84E27E83167}" type="datetimeFigureOut">
              <a:rPr lang="en-DE" smtClean="0"/>
              <a:t>05/03/2026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05F64-CC40-AF64-7362-274CD76C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91E26-7403-959A-F08B-E0B80C67C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DC02-62FB-4D02-95E0-8485BD63F97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1936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F65D5-F0D7-5233-7017-303A16437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1DB28-6238-6F93-9B82-E7DEE08A1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CFA67-574C-B173-B7E7-6AB3DA54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C8E8-D335-46A9-A3B5-D84E27E83167}" type="datetimeFigureOut">
              <a:rPr lang="en-DE" smtClean="0"/>
              <a:t>05/03/2026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5FE1B-E42E-F79E-12E7-F4179B9A9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70CB4-23C1-581D-47DA-AD8C6C54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DC02-62FB-4D02-95E0-8485BD63F97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878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105C37-7E1E-42CB-EB41-179266A34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6D330-D8C3-D957-2000-5C625B143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49C4-2DFC-3165-4D94-48B4708E6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C8E8-D335-46A9-A3B5-D84E27E83167}" type="datetimeFigureOut">
              <a:rPr lang="en-DE" smtClean="0"/>
              <a:t>05/03/2026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9A30B-9CF8-BB0A-0FEC-6E1A2A530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C5F21-A972-CF84-2D53-3E235ECF4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FDC02-62FB-4D02-95E0-8485BD63F97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1954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31E82-F902-A953-415A-0158F924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D16DF-9D53-A0BD-A105-8D0A7C475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A14E5-F899-2204-17CE-91CF27CE4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3C8E8-D335-46A9-A3B5-D84E27E83167}" type="datetimeFigureOut">
              <a:rPr lang="en-DE" smtClean="0"/>
              <a:t>05/03/2026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37F45-9741-BED5-5C1B-ED66007D97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47791-F74F-B19A-0334-BE54EC4BE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FFDC02-62FB-4D02-95E0-8485BD63F97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06836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4165-C253-49CC-2891-91B2C9E57D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4400" dirty="0"/>
              <a:t>Pump-Net: Efficient Anomaly Detection for Industrial Edge Devices using desktop simulation</a:t>
            </a:r>
            <a:endParaRPr lang="en-DE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A4486-6707-AD69-E4E8-70F64CD33D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8189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7411-BB34-9281-249E-02F1903E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Data &amp; The Problem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E45B7-9992-F8B5-B16F-CC936640E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400" b="1" dirty="0"/>
              <a:t>Dataset:</a:t>
            </a:r>
            <a:r>
              <a:rPr lang="en-GB" sz="1400" dirty="0"/>
              <a:t> MIMII (Pump sound recordings).</a:t>
            </a:r>
          </a:p>
          <a:p>
            <a:r>
              <a:rPr lang="en-GB" sz="1400" dirty="0"/>
              <a:t>Problem: Identify anomalies, which are rare/expensive in production env</a:t>
            </a:r>
          </a:p>
          <a:p>
            <a:r>
              <a:rPr lang="en-GB" sz="1400" dirty="0"/>
              <a:t>Past work</a:t>
            </a:r>
          </a:p>
          <a:p>
            <a:pPr lvl="1"/>
            <a:r>
              <a:rPr lang="en-GB" sz="1400" dirty="0"/>
              <a:t>Feature extraction + single AE model – Carry forward	</a:t>
            </a:r>
          </a:p>
          <a:p>
            <a:pPr lvl="2"/>
            <a:r>
              <a:rPr lang="en-GB" sz="1400" dirty="0"/>
              <a:t>Important highlight – Manual feature engineering to select top5 significant inputs </a:t>
            </a:r>
          </a:p>
          <a:p>
            <a:pPr lvl="2"/>
            <a:endParaRPr lang="en-GB" sz="1400" dirty="0"/>
          </a:p>
          <a:p>
            <a:r>
              <a:rPr lang="en-GB" sz="1400" dirty="0"/>
              <a:t>Work currently done</a:t>
            </a:r>
          </a:p>
          <a:p>
            <a:pPr lvl="1"/>
            <a:r>
              <a:rPr lang="en-GB" sz="1400" dirty="0"/>
              <a:t>Shallow vs Deep architectures</a:t>
            </a:r>
          </a:p>
          <a:p>
            <a:pPr lvl="1"/>
            <a:r>
              <a:rPr lang="en-GB" sz="1400" dirty="0"/>
              <a:t>Pruning for stability</a:t>
            </a:r>
          </a:p>
          <a:p>
            <a:pPr lvl="1"/>
            <a:r>
              <a:rPr lang="en-GB" sz="1400" dirty="0"/>
              <a:t>Quantization </a:t>
            </a:r>
          </a:p>
          <a:p>
            <a:r>
              <a:rPr lang="en-GB" sz="1400" dirty="0"/>
              <a:t>Desired work</a:t>
            </a:r>
          </a:p>
          <a:p>
            <a:pPr lvl="1"/>
            <a:r>
              <a:rPr lang="en-GB" sz="1400" dirty="0"/>
              <a:t>Pareto optimisation</a:t>
            </a:r>
          </a:p>
          <a:p>
            <a:pPr lvl="1"/>
            <a:r>
              <a:rPr lang="en-GB" sz="1400" dirty="0"/>
              <a:t>NAS</a:t>
            </a:r>
          </a:p>
        </p:txBody>
      </p:sp>
    </p:spTree>
    <p:extLst>
      <p:ext uri="{BB962C8B-B14F-4D97-AF65-F5344CB8AC3E}">
        <p14:creationId xmlns:p14="http://schemas.microsoft.com/office/powerpoint/2010/main" val="962421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302F-0B96-4FC3-7F39-C730BE27E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011" y="70294"/>
            <a:ext cx="10515600" cy="1325563"/>
          </a:xfrm>
        </p:spPr>
        <p:txBody>
          <a:bodyPr/>
          <a:lstStyle/>
          <a:p>
            <a:r>
              <a:rPr lang="en-IN" dirty="0"/>
              <a:t>Past work – Results	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039BD-462C-020F-C5CD-E5FE4A5B4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448" y="1253331"/>
            <a:ext cx="6431280" cy="1985169"/>
          </a:xfrm>
        </p:spPr>
        <p:txBody>
          <a:bodyPr>
            <a:normAutofit/>
          </a:bodyPr>
          <a:lstStyle/>
          <a:p>
            <a:r>
              <a:rPr lang="en-IN" sz="1400" dirty="0"/>
              <a:t>Base model</a:t>
            </a:r>
          </a:p>
          <a:p>
            <a:pPr lvl="1"/>
            <a:r>
              <a:rPr lang="en-IN" sz="1400" dirty="0"/>
              <a:t>Symmetric Deep Autoencoder</a:t>
            </a:r>
          </a:p>
          <a:p>
            <a:pPr lvl="2"/>
            <a:r>
              <a:rPr lang="en-IN" sz="1400" dirty="0"/>
              <a:t>128 – 64 – 32 | Dense, Batch Normalization, Dropout </a:t>
            </a:r>
          </a:p>
          <a:p>
            <a:r>
              <a:rPr lang="en-IN" sz="1400" dirty="0"/>
              <a:t>Use of reconstruction error to identify top 5 features with max impact</a:t>
            </a:r>
          </a:p>
          <a:p>
            <a:r>
              <a:rPr lang="en-IN" sz="1400" dirty="0"/>
              <a:t>Take away</a:t>
            </a:r>
          </a:p>
          <a:p>
            <a:pPr lvl="1"/>
            <a:r>
              <a:rPr lang="en-IN" sz="1400" dirty="0"/>
              <a:t>Model performance is almost the same</a:t>
            </a:r>
          </a:p>
          <a:p>
            <a:pPr lvl="1"/>
            <a:r>
              <a:rPr lang="en-IN" sz="1400" dirty="0"/>
              <a:t>Slight reduction in model size</a:t>
            </a:r>
          </a:p>
          <a:p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CED1B-451B-782B-1AD5-2FD71B71B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11" y="4375943"/>
            <a:ext cx="10891759" cy="17128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1364CA-5649-C277-8D23-7104B1F3FDA1}"/>
              </a:ext>
            </a:extLst>
          </p:cNvPr>
          <p:cNvSpPr txBox="1"/>
          <p:nvPr/>
        </p:nvSpPr>
        <p:spPr>
          <a:xfrm>
            <a:off x="7818120" y="1143000"/>
            <a:ext cx="41330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AUROC – Area under  Receiver Operating Characteristic – Measure of classification </a:t>
            </a:r>
          </a:p>
          <a:p>
            <a:endParaRPr lang="en-IN" sz="1400" dirty="0"/>
          </a:p>
          <a:p>
            <a:r>
              <a:rPr lang="en-IN" sz="1400" dirty="0"/>
              <a:t>AUPRC – Area Under the Precision-Recall Curve – precision 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1580217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4D3C1-D984-4525-51F5-92548A38B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 done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E95A5-D178-6085-9AC7-F2F6F9CED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003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/>
              <a:t>Comparison study involving </a:t>
            </a:r>
          </a:p>
          <a:p>
            <a:pPr marL="0" indent="0">
              <a:buNone/>
            </a:pPr>
            <a:r>
              <a:rPr lang="en-IN" sz="1400" dirty="0"/>
              <a:t>undercomplete model with 4 NN bottleneck [32 – 8 – 4] – Dense – Batch Norm – Drop out and Shallow model [16 - 4] - Dense</a:t>
            </a:r>
            <a:endParaRPr lang="en-DE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BEE68-BA2D-D6BA-7993-F0F3467EA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812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/>
              <a:t>Quantization – PTQ</a:t>
            </a:r>
          </a:p>
          <a:p>
            <a:pPr marL="0" indent="0">
              <a:buNone/>
            </a:pPr>
            <a:r>
              <a:rPr lang="en-IN" sz="1400" dirty="0"/>
              <a:t>Used input data as representational data for calibration </a:t>
            </a:r>
            <a:endParaRPr lang="en-DE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A19411-6EB3-77B9-DE07-EB2266DE6E18}"/>
              </a:ext>
            </a:extLst>
          </p:cNvPr>
          <p:cNvSpPr txBox="1"/>
          <p:nvPr/>
        </p:nvSpPr>
        <p:spPr>
          <a:xfrm>
            <a:off x="914400" y="3124200"/>
            <a:ext cx="1043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Future plan</a:t>
            </a:r>
            <a:endParaRPr lang="en-DE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A71EA3-E43E-4B0E-2319-9B13F63FC059}"/>
              </a:ext>
            </a:extLst>
          </p:cNvPr>
          <p:cNvSpPr txBox="1"/>
          <p:nvPr/>
        </p:nvSpPr>
        <p:spPr>
          <a:xfrm>
            <a:off x="914400" y="3971925"/>
            <a:ext cx="5219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NAS</a:t>
            </a:r>
          </a:p>
          <a:p>
            <a:r>
              <a:rPr lang="en-IN" dirty="0"/>
              <a:t>Pareto Optimisation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522105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C4CD-FE85-8EC4-77CC-DC0DBD31F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Observation </a:t>
            </a:r>
            <a:endParaRPr lang="en-D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D36567-D176-9F80-A57D-3D58B69EB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3177535"/>
              </p:ext>
            </p:extLst>
          </p:nvPr>
        </p:nvGraphicFramePr>
        <p:xfrm>
          <a:off x="657225" y="1423059"/>
          <a:ext cx="10515600" cy="2440688"/>
        </p:xfrm>
        <a:graphic>
          <a:graphicData uri="http://schemas.openxmlformats.org/drawingml/2006/table">
            <a:tbl>
              <a:tblPr/>
              <a:tblGrid>
                <a:gridCol w="606611">
                  <a:extLst>
                    <a:ext uri="{9D8B030D-6E8A-4147-A177-3AD203B41FA5}">
                      <a16:colId xmlns:a16="http://schemas.microsoft.com/office/drawing/2014/main" val="1039703004"/>
                    </a:ext>
                  </a:extLst>
                </a:gridCol>
                <a:gridCol w="2336614">
                  <a:extLst>
                    <a:ext uri="{9D8B030D-6E8A-4147-A177-3AD203B41FA5}">
                      <a16:colId xmlns:a16="http://schemas.microsoft.com/office/drawing/2014/main" val="235225127"/>
                    </a:ext>
                  </a:extLst>
                </a:gridCol>
                <a:gridCol w="817763">
                  <a:extLst>
                    <a:ext uri="{9D8B030D-6E8A-4147-A177-3AD203B41FA5}">
                      <a16:colId xmlns:a16="http://schemas.microsoft.com/office/drawing/2014/main" val="1493061471"/>
                    </a:ext>
                  </a:extLst>
                </a:gridCol>
                <a:gridCol w="606611">
                  <a:extLst>
                    <a:ext uri="{9D8B030D-6E8A-4147-A177-3AD203B41FA5}">
                      <a16:colId xmlns:a16="http://schemas.microsoft.com/office/drawing/2014/main" val="2332003645"/>
                    </a:ext>
                  </a:extLst>
                </a:gridCol>
                <a:gridCol w="606611">
                  <a:extLst>
                    <a:ext uri="{9D8B030D-6E8A-4147-A177-3AD203B41FA5}">
                      <a16:colId xmlns:a16="http://schemas.microsoft.com/office/drawing/2014/main" val="635669808"/>
                    </a:ext>
                  </a:extLst>
                </a:gridCol>
                <a:gridCol w="606611">
                  <a:extLst>
                    <a:ext uri="{9D8B030D-6E8A-4147-A177-3AD203B41FA5}">
                      <a16:colId xmlns:a16="http://schemas.microsoft.com/office/drawing/2014/main" val="1263459542"/>
                    </a:ext>
                  </a:extLst>
                </a:gridCol>
                <a:gridCol w="1119197">
                  <a:extLst>
                    <a:ext uri="{9D8B030D-6E8A-4147-A177-3AD203B41FA5}">
                      <a16:colId xmlns:a16="http://schemas.microsoft.com/office/drawing/2014/main" val="1587260971"/>
                    </a:ext>
                  </a:extLst>
                </a:gridCol>
                <a:gridCol w="1006974">
                  <a:extLst>
                    <a:ext uri="{9D8B030D-6E8A-4147-A177-3AD203B41FA5}">
                      <a16:colId xmlns:a16="http://schemas.microsoft.com/office/drawing/2014/main" val="2914125683"/>
                    </a:ext>
                  </a:extLst>
                </a:gridCol>
                <a:gridCol w="1043371">
                  <a:extLst>
                    <a:ext uri="{9D8B030D-6E8A-4147-A177-3AD203B41FA5}">
                      <a16:colId xmlns:a16="http://schemas.microsoft.com/office/drawing/2014/main" val="1240653329"/>
                    </a:ext>
                  </a:extLst>
                </a:gridCol>
                <a:gridCol w="864420">
                  <a:extLst>
                    <a:ext uri="{9D8B030D-6E8A-4147-A177-3AD203B41FA5}">
                      <a16:colId xmlns:a16="http://schemas.microsoft.com/office/drawing/2014/main" val="2429210622"/>
                    </a:ext>
                  </a:extLst>
                </a:gridCol>
                <a:gridCol w="900817">
                  <a:extLst>
                    <a:ext uri="{9D8B030D-6E8A-4147-A177-3AD203B41FA5}">
                      <a16:colId xmlns:a16="http://schemas.microsoft.com/office/drawing/2014/main" val="2285909046"/>
                    </a:ext>
                  </a:extLst>
                </a:gridCol>
              </a:tblGrid>
              <a:tr h="409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9107" marR="9107" marT="9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model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input_dim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params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file_size_mb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AUROC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AUPRC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latency_ms_per_batch_mean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latency_ms_per_batch_p95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ms_per_sample_mean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samples_per_sec_mean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48933"/>
                  </a:ext>
                </a:extLst>
              </a:tr>
              <a:tr h="2003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9107" marR="9107" marT="9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large_ae_full_features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18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28242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0.40385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0.98664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0.992548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108.50696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121.23521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0.504684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1981.439717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479082"/>
                  </a:ext>
                </a:extLst>
              </a:tr>
              <a:tr h="2003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9107" marR="9107" marT="9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large_ae_topN_features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24901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0.36561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0.94777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0.973597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104.68965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113.719345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0.486929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2053.689166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010668"/>
                  </a:ext>
                </a:extLst>
              </a:tr>
              <a:tr h="2003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9107" marR="9107" marT="9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small_ae_full_features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18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2186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0.1107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0.97299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0.986404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107.331745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128.880015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0.499217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2003.135232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845778"/>
                  </a:ext>
                </a:extLst>
              </a:tr>
              <a:tr h="2094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9107" marR="9107" marT="9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small_ae_topN_features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1341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0.10103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0.94146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0.971155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107.365625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115.605685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0.499375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2002.503129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776831"/>
                  </a:ext>
                </a:extLst>
              </a:tr>
              <a:tr h="2003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9107" marR="9107" marT="9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shallow_ae_full_features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18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2186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0.1107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0.97487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0.986584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107.91342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117.524505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0.501923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1992.337931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082721"/>
                  </a:ext>
                </a:extLst>
              </a:tr>
              <a:tr h="2094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9107" marR="9107" marT="9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shallow_ae_topN_features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1341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0.10103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0.9425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0.971342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107.00257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117.05727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0.497686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2009.297534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3124"/>
                  </a:ext>
                </a:extLst>
              </a:tr>
              <a:tr h="2003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</a:t>
                      </a:r>
                    </a:p>
                  </a:txBody>
                  <a:tcPr marL="9107" marR="9107" marT="9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small_model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(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tflite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)_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full_features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18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NaN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0.00877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0.45389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0.661609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1.608435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2.192135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0.007481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133670.3054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810019"/>
                  </a:ext>
                </a:extLst>
              </a:tr>
              <a:tr h="2094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9107" marR="9107" marT="9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small_model(tflite)_topN_features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NaN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0.00762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0.31658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0.665958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1.533195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1.97227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0.007131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140230.0421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614652"/>
                  </a:ext>
                </a:extLst>
              </a:tr>
              <a:tr h="2003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9</a:t>
                      </a:r>
                    </a:p>
                  </a:txBody>
                  <a:tcPr marL="9107" marR="9107" marT="9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shallow_model(tflite)_full_features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18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NaN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0.00881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0.86044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0.941244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1.676835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2.03254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0.007799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128217.7469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53902"/>
                  </a:ext>
                </a:extLst>
              </a:tr>
              <a:tr h="2003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9107" marR="9107" marT="910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shallow_model(tflite)_topN_features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NaN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0.00767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0.3243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0.676364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1.55058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1.950495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0.007212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138657.7934</a:t>
                      </a:r>
                    </a:p>
                  </a:txBody>
                  <a:tcPr marL="9107" marR="9107" marT="91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3329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F55C24-BCCF-F8E7-EC39-9F34E7CD4A78}"/>
              </a:ext>
            </a:extLst>
          </p:cNvPr>
          <p:cNvSpPr txBox="1"/>
          <p:nvPr/>
        </p:nvSpPr>
        <p:spPr>
          <a:xfrm>
            <a:off x="657225" y="4200525"/>
            <a:ext cx="60864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Detection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Best AUROC:</a:t>
            </a:r>
            <a:r>
              <a:rPr lang="en-GB" sz="1400" dirty="0"/>
              <a:t> 0.9866 (Large AE – Full Features)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Small &amp; Shallow AEs achieve </a:t>
            </a:r>
            <a:r>
              <a:rPr lang="en-GB" sz="1400" b="1" dirty="0"/>
              <a:t>comparable performance (~0.97 AUROC)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With feature reduction </a:t>
            </a:r>
            <a:r>
              <a:rPr lang="en-GB" sz="1400" dirty="0" err="1"/>
              <a:t>TFLite</a:t>
            </a:r>
            <a:r>
              <a:rPr lang="en-GB" sz="1400" dirty="0"/>
              <a:t> models show </a:t>
            </a:r>
            <a:r>
              <a:rPr lang="en-GB" sz="1400" b="1" dirty="0"/>
              <a:t>significant accuracy degradation</a:t>
            </a:r>
          </a:p>
          <a:p>
            <a:r>
              <a:rPr lang="en-IN" sz="1400" dirty="0"/>
              <a:t>Efficiency (Desktop Simulation)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TFLite</a:t>
            </a:r>
            <a:r>
              <a:rPr lang="en-IN" sz="1400" dirty="0"/>
              <a:t> models – 60/70x faster, 50x smaller in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Pytorch</a:t>
            </a:r>
            <a:r>
              <a:rPr lang="en-IN" sz="1400" dirty="0"/>
              <a:t> </a:t>
            </a:r>
            <a:r>
              <a:rPr lang="en-IN" sz="1400" dirty="0" err="1"/>
              <a:t>Aes</a:t>
            </a:r>
            <a:r>
              <a:rPr lang="en-IN" sz="1400" dirty="0"/>
              <a:t> – 0.5 sec per sample</a:t>
            </a:r>
            <a:endParaRPr lang="en-GB" sz="1400" dirty="0"/>
          </a:p>
          <a:p>
            <a:endParaRPr lang="en-DE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8CF57-064B-6AE5-657E-F135EF3B73A9}"/>
              </a:ext>
            </a:extLst>
          </p:cNvPr>
          <p:cNvSpPr txBox="1"/>
          <p:nvPr/>
        </p:nvSpPr>
        <p:spPr>
          <a:xfrm>
            <a:off x="6772275" y="4371975"/>
            <a:ext cx="47720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Key Trade-Off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Higher accuracy – larger model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Smaller/faster models – reduced detection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i="1" dirty="0"/>
              <a:t>Shallow model with all input features achieves good AUROC and AUPRC</a:t>
            </a:r>
            <a:endParaRPr lang="en-DE" sz="1400" b="1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4BB3E2-C5A9-AFA8-D12E-D3D0BEDACBB1}"/>
              </a:ext>
            </a:extLst>
          </p:cNvPr>
          <p:cNvSpPr txBox="1"/>
          <p:nvPr/>
        </p:nvSpPr>
        <p:spPr>
          <a:xfrm>
            <a:off x="200025" y="6231850"/>
            <a:ext cx="11649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All latency and throughput results are </a:t>
            </a:r>
            <a:r>
              <a:rPr lang="en-GB" b="1" dirty="0"/>
              <a:t>desktop simulated</a:t>
            </a:r>
            <a:r>
              <a:rPr lang="en-GB" dirty="0"/>
              <a:t>, not measured on a physical microcontroller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75250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517</Words>
  <Application>Microsoft Office PowerPoint</Application>
  <PresentationFormat>Widescreen</PresentationFormat>
  <Paragraphs>168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Office Theme</vt:lpstr>
      <vt:lpstr>Pump-Net: Efficient Anomaly Detection for Industrial Edge Devices using desktop simulation</vt:lpstr>
      <vt:lpstr>The Data &amp; The Problem</vt:lpstr>
      <vt:lpstr>Past work – Results </vt:lpstr>
      <vt:lpstr>Work done</vt:lpstr>
      <vt:lpstr>Observation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Likesh</dc:creator>
  <cp:lastModifiedBy>Nikki Me</cp:lastModifiedBy>
  <cp:revision>1</cp:revision>
  <dcterms:created xsi:type="dcterms:W3CDTF">2026-03-05T02:47:06Z</dcterms:created>
  <dcterms:modified xsi:type="dcterms:W3CDTF">2026-03-05T03:55:31Z</dcterms:modified>
</cp:coreProperties>
</file>